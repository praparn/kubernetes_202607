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SKILLLANE .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01/09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E9EDF2"/>
                </a:solidFill>
                <a:latin typeface="Arial Black"/>
              </a:rPr>
              <a:t>ADVANCED DOCKER</a:t>
            </a:r>
          </a:p>
          <a:p>
            <a:pPr algn="l">
              <a:lnSpc>
                <a:spcPct val="95000"/>
              </a:lnSpc>
            </a:pPr>
            <a:r>
              <a:rPr sz="5400" b="1">
                <a:solidFill>
                  <a:srgbClr val="E9EDF2"/>
                </a:solidFill>
                <a:latin typeface="Arial Black"/>
              </a:rPr>
              <a:t>WITH KUBERNETES — 136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AA4B5"/>
                </a:solidFill>
                <a:latin typeface="Arial"/>
              </a:rPr>
              <a:t>A ground-up refresh of the workshop for Kubernetes v1.36.2 — new ingress stack, new security &amp; storage features, same hands-on format your students already know.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39496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00">
                <a:solidFill>
                  <a:srgbClr val="9AA4B5"/>
                </a:solidFill>
                <a:latin typeface="Consolas"/>
              </a:rPr>
              <a:t>TARGET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DF2"/>
                </a:solidFill>
                <a:latin typeface="Arial"/>
              </a:rPr>
              <a:t>Kubernetes v1.36.2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5778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00">
                <a:solidFill>
                  <a:srgbClr val="9AA4B5"/>
                </a:solidFill>
                <a:latin typeface="Consolas"/>
              </a:rPr>
              <a:t>COMPANION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897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DF2"/>
                </a:solidFill>
                <a:latin typeface="Arial"/>
              </a:rPr>
              <a:t>kubernetes_202607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557784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00">
                <a:solidFill>
                  <a:srgbClr val="9AA4B5"/>
                </a:solidFill>
                <a:latin typeface="Consolas"/>
              </a:rPr>
              <a:t>PRODUCT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58978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9EDF2"/>
                </a:solidFill>
                <a:latin typeface="Arial"/>
              </a:rPr>
              <a:t>New course, not an edit of live 134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02/09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DF2"/>
                </a:solidFill>
                <a:latin typeface="Arial Black"/>
              </a:rPr>
              <a:t>WHAT CHANGED, 1.34 → 1.36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Two release cycles' worth of removals and graduations.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0487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32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E08A72"/>
                </a:solidFill>
                <a:latin typeface="Consolas"/>
              </a:rPr>
              <a:t>REMOVED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377440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NGINX Ingress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377440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retired, no patches since Mar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02128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803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32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E08A72"/>
                </a:solidFill>
                <a:latin typeface="Consolas"/>
              </a:rPr>
              <a:t>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52928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kube-proxy IPVS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52928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nftables is the replacement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77616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35584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32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E08A72"/>
                </a:solidFill>
                <a:latin typeface="Consolas"/>
              </a:rPr>
              <a:t>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28416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containerd 1.x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328416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containerd 2.0+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53104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8313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332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E08A72"/>
                </a:solidFill>
                <a:latin typeface="Consolas"/>
              </a:rPr>
              <a:t>REMOVED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03904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cgroups v1 (default)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803904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disabled by default since 1.35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28592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430682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4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279392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User Namespaces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79392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unprivileged host mapping — 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040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78231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4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754880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Mutating Admission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754880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CEL-based, no webhook — GA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179568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2578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4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5230368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OCI VolumeSource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230368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ship files via OCI image — stable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655056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" y="57332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43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00" b="1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705856"/>
            <a:ext cx="56692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In-place Pod resize / vertical scaling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705856"/>
            <a:ext cx="4023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GA 1.35, pod-level in 1.36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130544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CURRICULUM .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03/09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DF2"/>
                </a:solidFill>
                <a:latin typeface="Arial Black"/>
              </a:rPr>
              <a:t>MODULE 1 —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Core building blocks. Mostly stable content, one install-time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774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Install 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3774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containerd 2.0 . nftables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584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34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Pods, Service,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156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91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Replication 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728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749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1300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872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6634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Liveness / Readiness Probe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444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206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1206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Resource Management, Namespaces, QoS,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5016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1.8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77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ConfigMap &amp; Secret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9588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CURRICULUM .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04/09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EDF2"/>
                </a:solidFill>
                <a:latin typeface="Arial Black"/>
              </a:rPr>
              <a:t>MODULE 2 — ADVANCED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Five of ten modules got real feature updates for 1.36.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Job &amp; CronJob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24836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88336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88336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Log and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27172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90672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9067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Ingress Network → Gateway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90672"/>
            <a:ext cx="3108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rebuilt . APISIX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29508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93008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493008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93008"/>
            <a:ext cx="3108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+2 new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31844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95344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895344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Kubernetes in the Real World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95344"/>
            <a:ext cx="3108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APISIX + AWS NLB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341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297680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Orchestrator Assignment (scheduling)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36516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00016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0016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Persistent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700016"/>
            <a:ext cx="3108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+2 new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038852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02352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102352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A33D"/>
                </a:solidFill>
                <a:latin typeface="Arial"/>
              </a:rPr>
              <a:t>HPA Workshop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02352"/>
            <a:ext cx="3108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BC2BB"/>
                </a:solidFill>
                <a:latin typeface="Consolas"/>
              </a:rPr>
              <a:t>in-place resize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41188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04688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04688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Helm Workshop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843524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907024"/>
            <a:ext cx="73152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Consolas"/>
              </a:rPr>
              <a:t>2.10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5907024"/>
            <a:ext cx="69494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Monitor (Prometheus + Grafana)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24586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DEEP DIVE . 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05/09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DF2"/>
                </a:solidFill>
                <a:latin typeface="Arial Black"/>
              </a:rPr>
              <a:t>THE FLAGSHIP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NGINX Ingress didn't just age out, it stopped shipping. The whole module is rebuilt on the Gateway API standard.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4937760" cy="310896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00">
                <a:solidFill>
                  <a:srgbClr val="9AA4B5"/>
                </a:solidFill>
                <a:latin typeface="Consolas"/>
              </a:rPr>
              <a:t>BEFORE . 1.34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AA4B5"/>
                </a:solidFill>
                <a:latin typeface="Arial"/>
              </a:rPr>
              <a:t>NGINX Ingress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• networking.k8s.io Ingress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• Retired March 2026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• No further patches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715000" y="3977639"/>
            <a:ext cx="777240" cy="548640"/>
          </a:xfrm>
          <a:prstGeom prst="chevron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2743200"/>
            <a:ext cx="4937760" cy="310896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971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00">
                <a:solidFill>
                  <a:srgbClr val="E8A33D"/>
                </a:solidFill>
                <a:latin typeface="Consolas"/>
              </a:rPr>
              <a:t>NOW . 136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918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Arial"/>
              </a:rPr>
              <a:t>Gateway API + Apache APISIX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8620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9EDF2"/>
                </a:solidFill>
                <a:latin typeface="Arial"/>
              </a:rPr>
              <a:t>• GatewayClass / Gateway / HTTPRoute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9EDF2"/>
                </a:solidFill>
                <a:latin typeface="Arial"/>
              </a:rPr>
              <a:t>• TLS listeners per hostname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9EDF2"/>
                </a:solidFill>
                <a:latin typeface="Arial"/>
              </a:rPr>
              <a:t>• Key-auth via PluginConfig + Consumer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E9EDF2"/>
                </a:solidFill>
                <a:latin typeface="Arial"/>
              </a:rPr>
              <a:t>• NodePort (2.3) and AWS NLB (2.5) variants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DEEP DIVE . 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06/09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DF2"/>
                </a:solidFill>
                <a:latin typeface="Arial Black"/>
              </a:rPr>
              <a:t>SECURITY ADDITIONS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Existing NetworkPolicy, RBAC, PSA and encryption-at-rest labs stay — two new sections join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5212080" cy="265176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00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Arial"/>
              </a:rPr>
              <a:t>Mutating Admission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CEL-based in-API-server mutation — define the change in YAML, no webhook infrastructure to run or secure.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743200"/>
            <a:ext cx="5212080" cy="2651760"/>
          </a:xfrm>
          <a:prstGeom prst="roundRect">
            <a:avLst>
              <a:gd name="adj" fmla="val 4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00">
                <a:solidFill>
                  <a:srgbClr val="5BC2BB"/>
                </a:solidFill>
                <a:latin typeface="Consolas"/>
              </a:rPr>
              <a:t>NEW .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375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9EDF2"/>
                </a:solidFill>
                <a:latin typeface="Arial"/>
              </a:rPr>
              <a:t>User Namespaces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Maps container root to an unprivileged host user, so a container breakout grants no node-level privilege.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DEEP DIVE . 2.7 / 2.8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07/09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9EDF2"/>
                </a:solidFill>
                <a:latin typeface="Arial Black"/>
              </a:rPr>
              <a:t>STORAGE &amp;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4B5"/>
                </a:solidFill>
                <a:latin typeface="Arial"/>
              </a:rPr>
              <a:t>Both modules keep their existing AWS EBS / HPA labs and get a live-demo-able 1.36 feature bolted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4320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00">
                <a:solidFill>
                  <a:srgbClr val="5BC2BB"/>
                </a:solidFill>
                <a:latin typeface="Consolas"/>
              </a:rPr>
              <a:t>NEW . STABLE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OCI VolumeSource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6908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4B5"/>
                </a:solidFill>
                <a:latin typeface="Arial"/>
              </a:rPr>
              <a:t>Ship files packaged as an OCI image and mount them into a Pod — no init container or startup script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74320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9718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00">
                <a:solidFill>
                  <a:srgbClr val="5BC2BB"/>
                </a:solidFill>
                <a:latin typeface="Consolas"/>
              </a:rPr>
              <a:t>NEW . ALPHA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375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In-place EBS resize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06908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4B5"/>
                </a:solidFill>
                <a:latin typeface="Arial"/>
              </a:rPr>
              <a:t>Grow size and IOPS on a bound EBS volume without touching the Pod.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43200"/>
            <a:ext cx="3429000" cy="3108960"/>
          </a:xfrm>
          <a:prstGeom prst="roundRect">
            <a:avLst>
              <a:gd name="adj" fmla="val 5000"/>
            </a:avLst>
          </a:prstGeom>
          <a:solidFill>
            <a:srgbClr val="1A212E"/>
          </a:solidFill>
          <a:ln w="12700">
            <a:solidFill>
              <a:srgbClr val="2A3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9718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spc="100">
                <a:solidFill>
                  <a:srgbClr val="5BC2BB"/>
                </a:solidFill>
                <a:latin typeface="Consolas"/>
              </a:rPr>
              <a:t>NEW . GA → 136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337560"/>
            <a:ext cx="2971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In-place Pod resize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069080"/>
            <a:ext cx="2971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AA4B5"/>
                </a:solidFill>
                <a:latin typeface="Arial"/>
              </a:rPr>
              <a:t>Change a running Pod's CPU/memory budget with no restart — a natural extension of the HPA workshop.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PRODUCTION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08/09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9EDF2"/>
                </a:solidFill>
                <a:latin typeface="Arial Black"/>
              </a:rPr>
              <a:t>SUGGESTED RECORDING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Open with “what changed since 134”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Use the manifest slide as the trailer/hook — the retirement story earns attention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784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Arial Blac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0040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Module 1 as-is, re-record Part 0 of 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61188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Foundations are stable; only the install-time nftables/containerd 2.0 checks need a fresh take.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004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Arial Blac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5196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Module 2 in order, 2.3 as the flagship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6344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Gateway API + APISIX carries the “this course is current” argument for the whole product.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8160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914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Arial Blac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03520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EDF2"/>
                </a:solidFill>
                <a:latin typeface="Arial"/>
              </a:rPr>
              <a:t>Close on 2.7 / 2.8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715000"/>
            <a:ext cx="8961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4B5"/>
                </a:solidFill>
                <a:latin typeface="Arial"/>
              </a:rPr>
              <a:t>Both got features that demo well live — a good note to end the course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23316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AA4B5"/>
                </a:solidFill>
                <a:latin typeface="Consolas"/>
              </a:rPr>
              <a:t>09/09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E9EDF2"/>
                </a:solidFill>
                <a:latin typeface="Arial Black"/>
              </a:rPr>
              <a:t>READY TO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4B5"/>
                </a:solidFill>
                <a:latin typeface="Arial"/>
              </a:rPr>
              <a:t>Repo restructuring, Gateway API rebuild and the version-136 lab configs are already done. Slide deck and video script are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297680"/>
            <a:ext cx="10972800" cy="12700"/>
          </a:xfrm>
          <a:prstGeom prst="rect">
            <a:avLst/>
          </a:prstGeom>
          <a:solidFill>
            <a:srgbClr val="2A3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00">
                <a:solidFill>
                  <a:srgbClr val="9AA4B5"/>
                </a:solidFill>
                <a:latin typeface="Consolas"/>
              </a:rPr>
              <a:t>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Consolas"/>
              </a:rPr>
              <a:t>github.com/praparn/kubernetes_202607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48056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00">
                <a:solidFill>
                  <a:srgbClr val="9AA4B5"/>
                </a:solidFill>
                <a:latin typeface="Consolas"/>
              </a:rPr>
              <a:t>COURSE WORKING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800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E9EDF2"/>
                </a:solidFill>
                <a:latin typeface="Arial"/>
              </a:rPr>
              <a:t>Advanced Docker with Kubernetes136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